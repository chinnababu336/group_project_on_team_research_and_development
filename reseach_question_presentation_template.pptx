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04/12/2025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04/12/2025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24 - 11 - 2025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1238000" cy="360000"/>
          </a:xfrm>
        </p:spPr>
        <p:txBody>
          <a:bodyPr/>
          <a:lstStyle/>
          <a:p>
            <a:r>
              <a:rPr lang="en-US" sz="2000" dirty="0"/>
              <a:t>Group Name:    B 177                                                        Name of Student Presenting: </a:t>
            </a:r>
            <a:r>
              <a:rPr lang="en-GB" sz="2000"/>
              <a:t>Aditya Krishna</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177        Names of Student Attendees : Chinna Salagala</a:t>
            </a:r>
          </a:p>
          <a:p>
            <a:r>
              <a:rPr lang="en-GB" dirty="0"/>
              <a:t>                                                                                                                                  Aditya Krishna</a:t>
            </a:r>
            <a:br>
              <a:rPr lang="en-GB" dirty="0"/>
            </a:br>
            <a:r>
              <a:rPr lang="en-GB" dirty="0"/>
              <a:t>                                                                                                                                  Manohar </a:t>
            </a:r>
            <a:r>
              <a:rPr lang="en-GB" dirty="0" err="1"/>
              <a:t>Moparthi</a:t>
            </a:r>
            <a:endParaRPr lang="en-GB" dirty="0"/>
          </a:p>
          <a:p>
            <a:r>
              <a:rPr lang="en-GB" dirty="0"/>
              <a:t>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177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0" y="1455053"/>
            <a:ext cx="12192000" cy="1339963"/>
          </a:xfrm>
        </p:spPr>
        <p:txBody>
          <a:bodyPr>
            <a:normAutofit fontScale="90000"/>
          </a:bodyPr>
          <a:lstStyle/>
          <a:p>
            <a:pPr marL="457200" indent="-457200">
              <a:lnSpc>
                <a:spcPts val="2880"/>
              </a:lnSpc>
              <a:spcBef>
                <a:spcPts val="0"/>
              </a:spcBef>
              <a:spcAft>
                <a:spcPts val="992"/>
              </a:spcAft>
              <a:buClr>
                <a:schemeClr val="tx1"/>
              </a:buClr>
              <a:buFont typeface="Wingdings" panose="05000000000000000000" pitchFamily="2" charset="2"/>
              <a:buChar char="Ø"/>
            </a:pPr>
            <a:r>
              <a:rPr lang="en-GB" sz="2700" b="0" dirty="0">
                <a:latin typeface="Times New Roman" panose="02020603050405020304" pitchFamily="18" charset="0"/>
                <a:cs typeface="Times New Roman" panose="02020603050405020304" pitchFamily="18" charset="0"/>
              </a:rPr>
              <a:t>our dataset </a:t>
            </a:r>
            <a:r>
              <a:rPr lang="en-GB" sz="2800" b="0" dirty="0">
                <a:latin typeface="Times New Roman" panose="02020603050405020304" pitchFamily="18" charset="0"/>
                <a:cs typeface="Times New Roman" panose="02020603050405020304" pitchFamily="18" charset="0"/>
              </a:rPr>
              <a:t>contains </a:t>
            </a:r>
            <a:r>
              <a:rPr lang="en-GB" sz="2800" b="0" dirty="0">
                <a:solidFill>
                  <a:schemeClr val="accent2"/>
                </a:solidFill>
                <a:latin typeface="Times New Roman" panose="02020603050405020304" pitchFamily="18" charset="0"/>
                <a:cs typeface="Times New Roman" panose="02020603050405020304" pitchFamily="18" charset="0"/>
              </a:rPr>
              <a:t>92 rows.</a:t>
            </a:r>
            <a:br>
              <a:rPr lang="en-GB" sz="2800" b="0" dirty="0">
                <a:solidFill>
                  <a:schemeClr val="accent2"/>
                </a:solidFill>
                <a:latin typeface="Times New Roman" panose="02020603050405020304" pitchFamily="18" charset="0"/>
                <a:cs typeface="Times New Roman" panose="02020603050405020304" pitchFamily="18" charset="0"/>
              </a:rPr>
            </a:br>
            <a:r>
              <a:rPr lang="en-GB" sz="2800" b="0" dirty="0">
                <a:latin typeface="Times New Roman" panose="02020603050405020304" pitchFamily="18" charset="0"/>
                <a:cs typeface="Times New Roman" panose="02020603050405020304" pitchFamily="18" charset="0"/>
              </a:rPr>
              <a:t>our datasets is </a:t>
            </a:r>
            <a:r>
              <a:rPr lang="en-IN" sz="2200" dirty="0"/>
              <a:t>US Public Food Assistance  </a:t>
            </a:r>
            <a:r>
              <a:rPr lang="en-IN" sz="2200" dirty="0">
                <a:sym typeface="Wingdings" panose="05000000000000000000" pitchFamily="2" charset="2"/>
              </a:rPr>
              <a:t> Food_Costs.csv</a:t>
            </a:r>
            <a:br>
              <a:rPr lang="en-GB" sz="3600" b="0" dirty="0">
                <a:solidFill>
                  <a:srgbClr val="FF0000"/>
                </a:solidFill>
                <a:latin typeface="Times New Roman" panose="02020603050405020304" pitchFamily="18" charset="0"/>
                <a:cs typeface="Arial"/>
              </a:rPr>
            </a:br>
            <a:r>
              <a:rPr lang="en-IN" sz="1800" b="0" dirty="0">
                <a:latin typeface="+mn-lt"/>
                <a:cs typeface="Times New Roman" panose="02020603050405020304" pitchFamily="18" charset="0"/>
              </a:rPr>
              <a:t>Independent Variable </a:t>
            </a:r>
            <a:r>
              <a:rPr lang="en-IN" sz="1800" b="0" dirty="0">
                <a:latin typeface="+mn-lt"/>
              </a:rPr>
              <a:t>                                                                                                                                                                                                                                                                                     </a:t>
            </a:r>
            <a:r>
              <a:rPr lang="en-IN" sz="1800" dirty="0">
                <a:latin typeface="+mn-lt"/>
                <a:cs typeface="Times New Roman" panose="02020603050405020304" pitchFamily="18" charset="0"/>
              </a:rPr>
              <a:t> </a:t>
            </a:r>
            <a:r>
              <a:rPr lang="en-IN" sz="1800" b="0" dirty="0">
                <a:latin typeface="+mn-lt"/>
                <a:cs typeface="Times New Roman" panose="02020603050405020304" pitchFamily="18" charset="0"/>
              </a:rPr>
              <a:t>Dependent Variable</a:t>
            </a:r>
            <a:endParaRPr lang="en-GB" sz="1800" b="0" dirty="0">
              <a:solidFill>
                <a:srgbClr val="FF0000"/>
              </a:solidFill>
              <a:latin typeface="+mn-lt"/>
              <a:cs typeface="Times New Roman" panose="02020603050405020304" pitchFamily="18" charset="0"/>
            </a:endParaRPr>
          </a:p>
        </p:txBody>
      </p:sp>
      <p:sp>
        <p:nvSpPr>
          <p:cNvPr id="7" name="Arrow: Down 6">
            <a:extLst>
              <a:ext uri="{FF2B5EF4-FFF2-40B4-BE49-F238E27FC236}">
                <a16:creationId xmlns:a16="http://schemas.microsoft.com/office/drawing/2014/main" id="{C1B60733-046F-D5B9-06CC-307B1555B47E}"/>
              </a:ext>
            </a:extLst>
          </p:cNvPr>
          <p:cNvSpPr/>
          <p:nvPr/>
        </p:nvSpPr>
        <p:spPr>
          <a:xfrm>
            <a:off x="787242" y="2526890"/>
            <a:ext cx="355284" cy="2681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3452334E-62E9-A6E9-015C-8EA1F58FCF2F}"/>
              </a:ext>
            </a:extLst>
          </p:cNvPr>
          <p:cNvSpPr/>
          <p:nvPr/>
        </p:nvSpPr>
        <p:spPr>
          <a:xfrm>
            <a:off x="11383722" y="2526888"/>
            <a:ext cx="355284" cy="2681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F7B744A5-2181-A2E6-9791-1EE041BD501F}"/>
              </a:ext>
            </a:extLst>
          </p:cNvPr>
          <p:cNvPicPr>
            <a:picLocks noChangeAspect="1"/>
          </p:cNvPicPr>
          <p:nvPr/>
        </p:nvPicPr>
        <p:blipFill>
          <a:blip r:embed="rId3"/>
          <a:stretch>
            <a:fillRect/>
          </a:stretch>
        </p:blipFill>
        <p:spPr>
          <a:xfrm>
            <a:off x="0" y="2809312"/>
            <a:ext cx="12192000" cy="2593635"/>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(DS325 number and </a:t>
            </a:r>
            <a:r>
              <a:rPr lang="en-US" sz="2400" dirty="0" err="1">
                <a:solidFill>
                  <a:srgbClr val="FF0000"/>
                </a:solidFill>
              </a:rPr>
              <a:t>Food_Costs</a:t>
            </a:r>
            <a:r>
              <a:rPr lang="en-US" sz="2400" dirty="0">
                <a:solidFill>
                  <a:srgbClr val="FF0000"/>
                </a:solidFill>
              </a:rPr>
              <a:t> )</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86397"/>
            <a:ext cx="10685938" cy="230832"/>
          </a:xfrm>
        </p:spPr>
        <p:txBody>
          <a:bodyPr/>
          <a:lstStyle/>
          <a:p>
            <a:r>
              <a:rPr lang="en-GB" dirty="0"/>
              <a:t>7COM1079-2025  Student Group No:    B 177</a:t>
            </a:r>
          </a:p>
          <a:p>
            <a:r>
              <a:rPr lang="en-GB" dirty="0"/>
              <a:t>                                                                                                                                  </a:t>
            </a:r>
          </a:p>
          <a:p>
            <a:endParaRPr lang="en-GB" dirty="0"/>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it helps us to analyze how  food costs vary across different state agencies over an entire year.</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chemeClr val="accent2"/>
                </a:solidFill>
                <a:latin typeface="Calibri"/>
                <a:cs typeface="Calibri"/>
              </a:rPr>
              <a:t>State Agency or Indian Tribal Organization</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  </a:t>
            </a:r>
            <a:r>
              <a:rPr lang="en-US" sz="2400" b="0" dirty="0">
                <a:solidFill>
                  <a:srgbClr val="FF0000"/>
                </a:solidFill>
                <a:latin typeface="Calibri"/>
                <a:cs typeface="Calibri"/>
              </a:rPr>
              <a:t>Nominal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 </a:t>
            </a:r>
            <a:r>
              <a:rPr lang="en-US" sz="2400" b="0" dirty="0">
                <a:solidFill>
                  <a:schemeClr val="accent2"/>
                </a:solidFill>
                <a:latin typeface="Calibri"/>
                <a:cs typeface="Calibri"/>
              </a:rPr>
              <a:t>Cumulative Cost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  </a:t>
            </a:r>
            <a:r>
              <a:rPr lang="en-US" sz="2400" b="0" dirty="0">
                <a:solidFill>
                  <a:srgbClr val="FF0000"/>
                </a:solidFill>
                <a:latin typeface="Calibri"/>
                <a:cs typeface="Calibri"/>
              </a:rPr>
              <a:t>Interval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177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57184" y="1854585"/>
            <a:ext cx="10640594" cy="2678085"/>
          </a:xfrm>
        </p:spPr>
        <p:txBody>
          <a:bodyPr>
            <a:noAutofit/>
          </a:bodyPr>
          <a:lstStyle/>
          <a:p>
            <a:pPr>
              <a:lnSpc>
                <a:spcPct val="100000"/>
              </a:lnSpc>
            </a:pPr>
            <a:r>
              <a:rPr lang="en-IE" sz="2400" b="0" dirty="0">
                <a:solidFill>
                  <a:srgbClr val="0070C0"/>
                </a:solidFill>
                <a:latin typeface="Calibri"/>
                <a:ea typeface="Calibri" panose="020F0502020204030204" pitchFamily="34" charset="0"/>
                <a:cs typeface="Times New Roman"/>
              </a:rPr>
              <a:t>       </a:t>
            </a:r>
            <a:r>
              <a:rPr lang="en-IE" sz="3200" b="0" dirty="0">
                <a:solidFill>
                  <a:srgbClr val="0070C0"/>
                </a:solidFill>
                <a:latin typeface="Calibri"/>
                <a:ea typeface="Calibri" panose="020F0502020204030204" pitchFamily="34" charset="0"/>
                <a:cs typeface="Times New Roman"/>
              </a:rPr>
              <a:t>“  Is there a difference in the mean </a:t>
            </a:r>
            <a:r>
              <a:rPr lang="en-IE" sz="3200" b="0" dirty="0">
                <a:latin typeface="Calibri"/>
                <a:ea typeface="Calibri" panose="020F0502020204030204" pitchFamily="34" charset="0"/>
                <a:cs typeface="Times New Roman"/>
              </a:rPr>
              <a:t>cumulative cost </a:t>
            </a:r>
            <a:r>
              <a:rPr lang="en-IE" sz="3200" b="0" dirty="0">
                <a:solidFill>
                  <a:srgbClr val="0070C0"/>
                </a:solidFill>
                <a:latin typeface="Calibri"/>
                <a:ea typeface="Calibri" panose="020F0502020204030204" pitchFamily="34" charset="0"/>
                <a:cs typeface="Times New Roman"/>
              </a:rPr>
              <a:t>among different </a:t>
            </a:r>
            <a:r>
              <a:rPr lang="en-IE" sz="3200" b="0" dirty="0">
                <a:latin typeface="Calibri"/>
                <a:ea typeface="Calibri" panose="020F0502020204030204" pitchFamily="34" charset="0"/>
                <a:cs typeface="Times New Roman"/>
              </a:rPr>
              <a:t>state agencies </a:t>
            </a:r>
            <a:r>
              <a:rPr lang="en-IE" sz="3200" b="0" dirty="0">
                <a:solidFill>
                  <a:srgbClr val="0070C0"/>
                </a:solidFill>
                <a:latin typeface="Calibri"/>
                <a:ea typeface="Calibri" panose="020F0502020204030204" pitchFamily="34" charset="0"/>
                <a:cs typeface="Times New Roman"/>
              </a:rPr>
              <a:t>?  “</a:t>
            </a:r>
            <a:br>
              <a:rPr lang="en-GB" sz="3200" dirty="0">
                <a:effectLst/>
                <a:latin typeface="Calibri" panose="020F0502020204030204" pitchFamily="34" charset="0"/>
                <a:ea typeface="Calibri" panose="020F0502020204030204" pitchFamily="34" charset="0"/>
                <a:cs typeface="Times New Roman" panose="02020603050405020304" pitchFamily="18" charset="0"/>
              </a:rPr>
            </a:br>
            <a:endParaRPr lang="en-GB" sz="32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gn="ctr">
              <a:lnSpc>
                <a:spcPct val="100000"/>
              </a:lnSpc>
            </a:pPr>
            <a:r>
              <a:rPr lang="en-GB" sz="3200" dirty="0">
                <a:latin typeface="Calibri"/>
                <a:cs typeface="Calibri"/>
              </a:rPr>
              <a:t>Hypotheses</a:t>
            </a:r>
            <a:r>
              <a:rPr lang="en-GB" sz="2400" b="0" dirty="0">
                <a:latin typeface="Calibri"/>
                <a:cs typeface="Calibri"/>
              </a:rPr>
              <a:t> </a:t>
            </a:r>
          </a:p>
          <a:p>
            <a:pPr algn="ctr">
              <a:lnSpc>
                <a:spcPct val="100000"/>
              </a:lnSpc>
            </a:pPr>
            <a:endParaRPr lang="en-GB" sz="2400" b="0" dirty="0">
              <a:latin typeface="Calibri"/>
              <a:cs typeface="Calibri"/>
            </a:endParaRPr>
          </a:p>
          <a:p>
            <a:pPr algn="ctr">
              <a:lnSpc>
                <a:spcPct val="100000"/>
              </a:lnSpc>
            </a:pPr>
            <a:endParaRPr lang="en-GB" sz="2400" b="0" dirty="0">
              <a:latin typeface="Calibri"/>
              <a:cs typeface="Calibri"/>
            </a:endParaRP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Difference in mean </a:t>
            </a:r>
            <a:r>
              <a:rPr lang="en-GB" sz="2000" b="0" dirty="0">
                <a:solidFill>
                  <a:schemeClr val="accent2"/>
                </a:solidFill>
                <a:latin typeface="Arial"/>
                <a:cs typeface="Arial"/>
              </a:rPr>
              <a:t>cumulative cost </a:t>
            </a:r>
            <a:r>
              <a:rPr lang="en-GB" sz="2000" b="0" dirty="0">
                <a:latin typeface="Arial"/>
                <a:cs typeface="Arial"/>
              </a:rPr>
              <a:t>among </a:t>
            </a:r>
            <a:r>
              <a:rPr lang="en-GB" sz="2000" b="0" dirty="0">
                <a:solidFill>
                  <a:schemeClr val="accent2"/>
                </a:solidFill>
                <a:latin typeface="Arial"/>
                <a:cs typeface="Arial"/>
              </a:rPr>
              <a:t>state agencies.</a:t>
            </a:r>
          </a:p>
          <a:p>
            <a:pPr marL="457200" indent="-457200">
              <a:lnSpc>
                <a:spcPct val="100000"/>
              </a:lnSpc>
              <a:buAutoNum type="arabicPeriod"/>
            </a:pPr>
            <a:endParaRPr lang="en-GB" sz="2000" b="0" dirty="0">
              <a:solidFill>
                <a:srgbClr val="FF0000"/>
              </a:solidFill>
              <a:latin typeface="Arial"/>
              <a:cs typeface="Arial"/>
            </a:endParaRP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is a difference in mean </a:t>
            </a:r>
            <a:r>
              <a:rPr lang="en-GB" sz="2000" b="0" dirty="0">
                <a:solidFill>
                  <a:schemeClr val="accent2"/>
                </a:solidFill>
                <a:latin typeface="Arial"/>
                <a:cs typeface="Arial"/>
              </a:rPr>
              <a:t>cumulative cost </a:t>
            </a:r>
            <a:r>
              <a:rPr lang="en-GB" sz="2000" b="0" dirty="0">
                <a:latin typeface="Arial"/>
                <a:cs typeface="Arial"/>
              </a:rPr>
              <a:t>among </a:t>
            </a:r>
            <a:r>
              <a:rPr lang="en-GB" sz="2000" b="0" dirty="0">
                <a:solidFill>
                  <a:schemeClr val="accent2"/>
                </a:solidFill>
                <a:latin typeface="Arial"/>
                <a:cs typeface="Arial"/>
              </a:rPr>
              <a:t>state agencies.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117</TotalTime>
  <Words>430</Words>
  <Application>Microsoft Office PowerPoint</Application>
  <PresentationFormat>Widescreen</PresentationFormat>
  <Paragraphs>32</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Times New Roman</vt:lpstr>
      <vt:lpstr>Wingdings</vt:lpstr>
      <vt:lpstr>Herts Theme</vt:lpstr>
      <vt:lpstr>Research Question –  Tutorial Presentation for Feedback Date: 24 - 11 - 2025 </vt:lpstr>
      <vt:lpstr>our dataset contains 92 rows. our datasets is US Public Food Assistance   Food_Costs.csv Independent Variable                                                                                                                                                                                                                                                                                       Dependent Variable</vt:lpstr>
      <vt:lpstr>This dataset is interesting to us because it helps us to analyze how  food costs vary across different state agencies over an entire year.  Our  Independent variable is:  State Agency or Indian Tribal Organization                    This  Independent variable datatype is :  Nominal data. Our Dependent variable is:  Cumulative Cost                    This Dependent variable datatype is  :  Interval data</vt:lpstr>
      <vt:lpstr>       “  Is there a difference in the mean cumulative cost among different state agencies ?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chinna babu salagala</cp:lastModifiedBy>
  <cp:revision>127</cp:revision>
  <dcterms:created xsi:type="dcterms:W3CDTF">2019-10-01T08:37:56Z</dcterms:created>
  <dcterms:modified xsi:type="dcterms:W3CDTF">2025-12-04T16:01:19Z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